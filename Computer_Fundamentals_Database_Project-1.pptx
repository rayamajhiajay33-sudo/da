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9.5508537568114477E-2"/>
          <c:w val="1"/>
          <c:h val="0.780487963795999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Perecentages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A70F-4B22-89C5-17AA4B88D3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4-A70F-4B22-89C5-17AA4B88D3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A70F-4B22-89C5-17AA4B88D3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A70F-4B22-89C5-17AA4B88D3D0}"/>
              </c:ext>
            </c:extLst>
          </c:dPt>
          <c:dPt>
            <c:idx val="4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2-A70F-4B22-89C5-17AA4B88D3D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B-C67E-43AB-B601-A8702C68049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81.3%</a:t>
                    </a:r>
                    <a:endParaRPr lang="en-US" altLang="ko-KR" dirty="0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0F-4B22-89C5-17AA4B88D3D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9%</a:t>
                    </a:r>
                    <a:endParaRPr lang="en-US" altLang="ko-KR" dirty="0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70F-4B22-89C5-17AA4B88D3D0}"/>
                </c:ext>
              </c:extLst>
            </c:dLbl>
            <c:dLbl>
              <c:idx val="2"/>
              <c:layout>
                <c:manualLayout>
                  <c:x val="3.2036286726295091E-2"/>
                  <c:y val="6.7738897095694361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z="1200" dirty="0"/>
                      <a:t>4.4%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333333333333329E-2"/>
                      <c:h val="5.82880974447239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70F-4B22-89C5-17AA4B88D3D0}"/>
                </c:ext>
              </c:extLst>
            </c:dLbl>
            <c:dLbl>
              <c:idx val="3"/>
              <c:layout>
                <c:manualLayout>
                  <c:x val="4.7768482823142257E-2"/>
                  <c:y val="8.5360304243711896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3.1%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710124826629688E-2"/>
                      <c:h val="5.82880974447239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70F-4B22-89C5-17AA4B88D3D0}"/>
                </c:ext>
              </c:extLst>
            </c:dLbl>
            <c:dLbl>
              <c:idx val="4"/>
              <c:layout>
                <c:manualLayout>
                  <c:x val="3.4437806924619861E-2"/>
                  <c:y val="7.2381157406297331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2.2%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086916319926033E-2"/>
                      <c:h val="5.82880974447239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70F-4B22-89C5-17AA4B88D3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5"/>
                <c:pt idx="0">
                  <c:v>Hindu</c:v>
                </c:pt>
                <c:pt idx="1">
                  <c:v>Buddhist</c:v>
                </c:pt>
                <c:pt idx="2">
                  <c:v>Muslim</c:v>
                </c:pt>
                <c:pt idx="3">
                  <c:v>Kirant</c:v>
                </c:pt>
                <c:pt idx="4">
                  <c:v>Other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0.81299999999999994</c:v>
                </c:pt>
                <c:pt idx="1">
                  <c:v>0.09</c:v>
                </c:pt>
                <c:pt idx="2">
                  <c:v>4.3999999999999997E-2</c:v>
                </c:pt>
                <c:pt idx="3">
                  <c:v>3.1E-2</c:v>
                </c:pt>
                <c:pt idx="4">
                  <c:v>2.1999999999999999E-2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0F-4B22-89C5-17AA4B88D3D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5"/>
        <c:delete val="1"/>
      </c:legendEntry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(thousands)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96-43FF-92E4-EBF013A565E7}"/>
              </c:ext>
            </c:extLst>
          </c:dPt>
          <c:dPt>
            <c:idx val="1"/>
            <c:invertIfNegative val="0"/>
            <c:bubble3D val="0"/>
            <c:spPr>
              <a:solidFill>
                <a:srgbClr val="2E5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96-43FF-92E4-EBF013A565E7}"/>
              </c:ext>
            </c:extLst>
          </c:dPt>
          <c:dPt>
            <c:idx val="2"/>
            <c:invertIfNegative val="0"/>
            <c:bubble3D val="0"/>
            <c:spPr>
              <a:solidFill>
                <a:srgbClr val="3A70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96-43FF-92E4-EBF013A565E7}"/>
              </c:ext>
            </c:extLst>
          </c:dPt>
          <c:dPt>
            <c:idx val="3"/>
            <c:invertIfNegative val="0"/>
            <c:bubble3D val="0"/>
            <c:spPr>
              <a:solidFill>
                <a:srgbClr val="E84C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96-43FF-92E4-EBF013A565E7}"/>
              </c:ext>
            </c:extLst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96-43FF-92E4-EBF013A565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Kathmandu</c:v>
                </c:pt>
                <c:pt idx="1">
                  <c:v>Pokhara</c:v>
                </c:pt>
                <c:pt idx="2">
                  <c:v>Bharatpur</c:v>
                </c:pt>
                <c:pt idx="3">
                  <c:v>Biratnagar</c:v>
                </c:pt>
                <c:pt idx="4">
                  <c:v>Lalitpur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1442</c:v>
                </c:pt>
                <c:pt idx="1">
                  <c:v>571</c:v>
                </c:pt>
                <c:pt idx="2">
                  <c:v>280</c:v>
                </c:pt>
                <c:pt idx="3">
                  <c:v>250</c:v>
                </c:pt>
                <c:pt idx="4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A96-43FF-92E4-EBF013A565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1" i="0" u="none" strike="noStrike" dirty="0">
                    <a:solidFill>
                      <a:srgbClr val="000000"/>
                    </a:solidFill>
                    <a:latin typeface="Arial"/>
                  </a:rPr>
                  <a:t>Population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8753785584494256E-2"/>
          <c:y val="3.54002624671916E-2"/>
          <c:w val="0.90774194091123228"/>
          <c:h val="0.8065486605840936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°C</c:v>
                </c:pt>
              </c:strCache>
            </c:strRef>
          </c:tx>
          <c:spPr>
            <a:ln w="38100" cap="flat">
              <a:solidFill>
                <a:srgbClr val="E84C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4C3D"/>
              </a:solidFill>
              <a:ln w="9525" cap="flat">
                <a:solidFill>
                  <a:srgbClr val="E84C3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</c:v>
                </c:pt>
                <c:pt idx="1">
                  <c:v>18</c:v>
                </c:pt>
                <c:pt idx="2">
                  <c:v>23</c:v>
                </c:pt>
                <c:pt idx="3">
                  <c:v>27</c:v>
                </c:pt>
                <c:pt idx="4">
                  <c:v>28</c:v>
                </c:pt>
                <c:pt idx="5">
                  <c:v>29</c:v>
                </c:pt>
                <c:pt idx="6">
                  <c:v>27</c:v>
                </c:pt>
                <c:pt idx="7">
                  <c:v>27</c:v>
                </c:pt>
                <c:pt idx="8">
                  <c:v>26</c:v>
                </c:pt>
                <c:pt idx="9">
                  <c:v>24</c:v>
                </c:pt>
                <c:pt idx="10">
                  <c:v>21</c:v>
                </c:pt>
                <c:pt idx="11">
                  <c:v>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DA5-4DC0-9551-46DF19844A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°C</c:v>
                </c:pt>
              </c:strCache>
            </c:strRef>
          </c:tx>
          <c:spPr>
            <a:ln w="38100" cap="flat">
              <a:solidFill>
                <a:srgbClr val="2E5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090"/>
              </a:solidFill>
              <a:ln w="9525" cap="flat">
                <a:solidFill>
                  <a:srgbClr val="2E509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18</c:v>
                </c:pt>
                <c:pt idx="9">
                  <c:v>12</c:v>
                </c:pt>
                <c:pt idx="10">
                  <c:v>6</c:v>
                </c:pt>
                <c:pt idx="11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DA5-4DC0-9551-46DF19844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2E5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</c:v>
                </c:pt>
                <c:pt idx="1">
                  <c:v>20</c:v>
                </c:pt>
                <c:pt idx="2">
                  <c:v>34</c:v>
                </c:pt>
                <c:pt idx="3">
                  <c:v>60</c:v>
                </c:pt>
                <c:pt idx="4">
                  <c:v>130</c:v>
                </c:pt>
                <c:pt idx="5">
                  <c:v>246</c:v>
                </c:pt>
                <c:pt idx="6">
                  <c:v>363</c:v>
                </c:pt>
                <c:pt idx="7">
                  <c:v>320</c:v>
                </c:pt>
                <c:pt idx="8">
                  <c:v>205</c:v>
                </c:pt>
                <c:pt idx="9">
                  <c:v>45</c:v>
                </c:pt>
                <c:pt idx="10">
                  <c:v>8</c:v>
                </c:pt>
                <c:pt idx="1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44-4585-8297-8F0597533F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E8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6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36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371600"/>
            <a:ext cx="1097280" cy="365760"/>
          </a:xfrm>
          <a:prstGeom prst="rect">
            <a:avLst/>
          </a:prstGeom>
          <a:solidFill>
            <a:srgbClr val="C8D8F0">
              <a:alpha val="60000"/>
            </a:srgbClr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NEPAL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2372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</a:rPr>
              <a:t>THE LAND OF HIMALAYAS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0" y="2377440"/>
            <a:ext cx="4572000" cy="36576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1920240" cy="822960"/>
          </a:xfrm>
          <a:prstGeom prst="rect">
            <a:avLst/>
          </a:prstGeom>
          <a:solidFill>
            <a:srgbClr val="2E5090">
              <a:alpha val="70000"/>
            </a:srgbClr>
          </a:solidFill>
          <a:ln w="1905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Founded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1768 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560320"/>
            <a:ext cx="1920240" cy="822960"/>
          </a:xfrm>
          <a:prstGeom prst="rect">
            <a:avLst/>
          </a:prstGeom>
          <a:solidFill>
            <a:srgbClr val="2E5090">
              <a:alpha val="70000"/>
            </a:srgbClr>
          </a:solidFill>
          <a:ln w="1905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🏙 Capital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Kathmandu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920240" cy="822960"/>
          </a:xfrm>
          <a:prstGeom prst="rect">
            <a:avLst/>
          </a:prstGeom>
          <a:solidFill>
            <a:srgbClr val="2E5090">
              <a:alpha val="70000"/>
            </a:srgbClr>
          </a:solidFill>
          <a:ln w="1905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👥 Population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~31 Million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2560320"/>
            <a:ext cx="1920240" cy="822960"/>
          </a:xfrm>
          <a:prstGeom prst="rect">
            <a:avLst/>
          </a:prstGeom>
          <a:solidFill>
            <a:srgbClr val="2E5090">
              <a:alpha val="70000"/>
            </a:srgbClr>
          </a:solidFill>
          <a:ln w="1905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🏔 Highest Peak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Mt. Everest 8,849m</a:t>
            </a:r>
            <a:endParaRPr lang="en-US" sz="9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092C98-7562-D9DC-450B-880327663967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19" name="Shape 26">
              <a:extLst>
                <a:ext uri="{FF2B5EF4-FFF2-40B4-BE49-F238E27FC236}">
                  <a16:creationId xmlns:a16="http://schemas.microsoft.com/office/drawing/2014/main" id="{3C372865-87E2-7E2B-EA6E-0A2EABE8A3D2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0" name="Text 27">
              <a:extLst>
                <a:ext uri="{FF2B5EF4-FFF2-40B4-BE49-F238E27FC236}">
                  <a16:creationId xmlns:a16="http://schemas.microsoft.com/office/drawing/2014/main" id="{604BF6C7-A671-13E7-4284-40C0CA8C4404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A9BBB"/>
                  </a:solidFill>
                </a:rPr>
                <a:t>Nepal • Country Presentation Designed 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OVERVIEW OF NEPAL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5148" y="1005840"/>
            <a:ext cx="4114800" cy="3474720"/>
          </a:xfrm>
          <a:prstGeom prst="rect">
            <a:avLst/>
          </a:prstGeom>
          <a:noFill/>
          <a:ln w="254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390650"/>
            <a:ext cx="3566160" cy="45720"/>
          </a:xfrm>
          <a:prstGeom prst="rect">
            <a:avLst/>
          </a:prstGeom>
          <a:solidFill>
            <a:srgbClr val="2E5090">
              <a:alpha val="50000"/>
            </a:srgbClr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NEPAL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E80"/>
                </a:solidFill>
              </a:rPr>
              <a:t>Nepal lies between China (north)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5E80"/>
                </a:solidFill>
              </a:rPr>
              <a:t>and India (south, east, west)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Official Name: </a:t>
            </a:r>
            <a:r>
              <a:rPr lang="en-US" sz="1100" dirty="0">
                <a:solidFill>
                  <a:srgbClr val="4A5E80"/>
                </a:solidFill>
              </a:rPr>
              <a:t>Federal Democratic Republic of Nepal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81912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81912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81912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Year of Unification: </a:t>
            </a:r>
            <a:r>
              <a:rPr lang="en-US" sz="1100" dirty="0">
                <a:solidFill>
                  <a:srgbClr val="4A5E80"/>
                </a:solidFill>
              </a:rPr>
              <a:t>1768 (Gorkha Kingdom)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57984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57984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57984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Current Republic: </a:t>
            </a:r>
            <a:r>
              <a:rPr lang="en-US" sz="1100" dirty="0">
                <a:solidFill>
                  <a:srgbClr val="4A5E80"/>
                </a:solidFill>
              </a:rPr>
              <a:t>2008 (abolished monarchy)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34056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34056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734056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Constitution: </a:t>
            </a:r>
            <a:r>
              <a:rPr lang="en-US" sz="1100" dirty="0">
                <a:solidFill>
                  <a:srgbClr val="4A5E80"/>
                </a:solidFill>
              </a:rPr>
              <a:t>2015 (Federal Parliamentary Republic)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10128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310128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10128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Area: </a:t>
            </a:r>
            <a:r>
              <a:rPr lang="en-US" sz="1100" dirty="0">
                <a:solidFill>
                  <a:srgbClr val="4A5E80"/>
                </a:solidFill>
              </a:rPr>
              <a:t>147,516 km²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41148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86200"/>
            <a:ext cx="54864" cy="512064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86200"/>
            <a:ext cx="3931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Location: </a:t>
            </a:r>
            <a:r>
              <a:rPr lang="en-US" sz="1100" dirty="0">
                <a:solidFill>
                  <a:srgbClr val="4A5E80"/>
                </a:solidFill>
              </a:rPr>
              <a:t>South Asia — landlocked in the Himalayas</a:t>
            </a:r>
            <a:endParaRPr lang="en-US" sz="11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2EB4D3-D059-C38B-38CA-0C49634B9007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8" name="Shape 26"/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A9BBB"/>
                  </a:solidFill>
                </a:rPr>
                <a:t>Nepal • Country Presentation Designed By Rayamajhi Ajay</a:t>
              </a:r>
              <a:endParaRPr lang="en-US" sz="1000" dirty="0"/>
            </a:p>
          </p:txBody>
        </p:sp>
      </p:grpSp>
      <p:pic>
        <p:nvPicPr>
          <p:cNvPr id="1026" name="Picture 2" descr="https://www.researchgate.net/publication/356949205/figure/fig2/AS:1099695288004615@1639199196854/Map-of-Nepal-showing-Province-wise-percentage-of-institutional-delivery-Map-was-created.png">
            <a:extLst>
              <a:ext uri="{FF2B5EF4-FFF2-40B4-BE49-F238E27FC236}">
                <a16:creationId xmlns:a16="http://schemas.microsoft.com/office/drawing/2014/main" id="{271715F8-910D-41FB-A876-1DEB6A1E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517904"/>
            <a:ext cx="3778250" cy="2459736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POPULATION &amp; ETHNIC GROUPS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92608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~31</a:t>
            </a:r>
            <a:endParaRPr lang="en-US" sz="64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Million</a:t>
            </a:r>
            <a:endParaRPr lang="en-US" sz="6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B"/>
                </a:solidFill>
              </a:rPr>
              <a:t>Total Population (2025)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2286000" cy="182880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05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125+</a:t>
            </a:r>
            <a:endParaRPr lang="en-US" sz="52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Ethnic Groups</a:t>
            </a:r>
            <a:endParaRPr lang="en-US" sz="5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</a:rPr>
              <a:t>&amp; 123 Languages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solidFill>
            <a:srgbClr val="F2F6FF"/>
          </a:solidFill>
          <a:ln w="1905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5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1.85%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E80"/>
                </a:solidFill>
              </a:rPr>
              <a:t>Annual Growth Rate</a:t>
            </a:r>
            <a:endParaRPr lang="en-US" sz="4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B"/>
                </a:solidFill>
              </a:rPr>
              <a:t>48th most populous country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Ethnic Groups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54864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290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Chhettri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16.6% of population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429000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429000"/>
            <a:ext cx="54864" cy="56692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4290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Brahman-Hill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12.2% of population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429000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E84C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429000"/>
            <a:ext cx="54864" cy="566928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4290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Magar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7.1% of population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87368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87368"/>
            <a:ext cx="54864" cy="5669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8736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Tharu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6.6% of population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4087368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8B45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087368"/>
            <a:ext cx="54864" cy="5669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08736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Tamang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5.8% of population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4087368"/>
            <a:ext cx="2651760" cy="566928"/>
          </a:xfrm>
          <a:prstGeom prst="rect">
            <a:avLst/>
          </a:prstGeom>
          <a:solidFill>
            <a:srgbClr val="F2F6FF"/>
          </a:solidFill>
          <a:ln w="25400">
            <a:solidFill>
              <a:srgbClr val="4B00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4087368"/>
            <a:ext cx="54864" cy="56692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408736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Newar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5E80"/>
                </a:solidFill>
              </a:rPr>
              <a:t>5.0% of population</a:t>
            </a:r>
            <a:endParaRPr lang="en-US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D0D349-82A5-4D4D-4447-60ED954A0D60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1A6FD73F-E106-87C4-4014-A85FFD53BB3B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2E67B077-A8DE-333E-F79D-DE8EF6519F94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Italic Outline Art" panose="02010400000000000000" pitchFamily="2" charset="-78"/>
              </a:rPr>
              <a:t>MAJOR RELIGIONS IN NEPAL</a:t>
            </a:r>
            <a:endParaRPr lang="en-US" sz="2600" dirty="0">
              <a:latin typeface="Algerian" panose="04020705040A02060702" pitchFamily="82" charset="0"/>
              <a:cs typeface="Italic Outline Art" panose="0201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0" y="1012190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00584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Hindu</a:t>
            </a:r>
            <a:r>
              <a:rPr lang="en-US" sz="1300" b="1" dirty="0">
                <a:solidFill>
                  <a:srgbClr val="E84C3D"/>
                </a:solidFill>
              </a:rPr>
              <a:t>  81.3%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658620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164592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Buddhist</a:t>
            </a:r>
            <a:r>
              <a:rPr lang="en-US" sz="1300" b="1" dirty="0">
                <a:solidFill>
                  <a:srgbClr val="2E5090"/>
                </a:solidFill>
              </a:rPr>
              <a:t>  9%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298700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20588" y="2376424"/>
            <a:ext cx="347472" cy="347472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4" name="Text 11"/>
          <p:cNvSpPr/>
          <p:nvPr/>
        </p:nvSpPr>
        <p:spPr>
          <a:xfrm>
            <a:off x="6080760" y="228600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Muslim</a:t>
            </a:r>
            <a:r>
              <a:rPr lang="en-US" sz="1300" b="1" dirty="0">
                <a:solidFill>
                  <a:srgbClr val="F0A500"/>
                </a:solidFill>
              </a:rPr>
              <a:t>  4.4%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0" y="2990088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44718" y="3081528"/>
            <a:ext cx="347472" cy="347472"/>
          </a:xfrm>
          <a:prstGeom prst="ellips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17" name="Text 14"/>
          <p:cNvSpPr/>
          <p:nvPr/>
        </p:nvSpPr>
        <p:spPr>
          <a:xfrm>
            <a:off x="6080760" y="297053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Kirant</a:t>
            </a:r>
            <a:r>
              <a:rPr lang="en-US" sz="1300" b="1" dirty="0">
                <a:solidFill>
                  <a:srgbClr val="2E8B57"/>
                </a:solidFill>
              </a:rPr>
              <a:t>  3.1%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89600" y="3712210"/>
            <a:ext cx="3108960" cy="626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33288" y="3836670"/>
            <a:ext cx="347472" cy="34747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Text 17"/>
          <p:cNvSpPr/>
          <p:nvPr/>
        </p:nvSpPr>
        <p:spPr>
          <a:xfrm>
            <a:off x="6080760" y="371221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>
                <a:solidFill>
                  <a:srgbClr val="1B2A4A"/>
                </a:solidFill>
              </a:rPr>
              <a:t>Other</a:t>
            </a:r>
            <a:r>
              <a:rPr lang="en-US" altLang="ko-KR" sz="1300" b="1" dirty="0">
                <a:solidFill>
                  <a:srgbClr val="4B0082"/>
                </a:solidFill>
              </a:rPr>
              <a:t> </a:t>
            </a:r>
            <a:r>
              <a:rPr lang="en-US" altLang="ko-KR" sz="1300" b="1" dirty="0">
                <a:solidFill>
                  <a:srgbClr val="8B4513"/>
                </a:solidFill>
              </a:rPr>
              <a:t>2</a:t>
            </a:r>
            <a:r>
              <a:rPr lang="en-US" sz="1300" b="1" dirty="0">
                <a:solidFill>
                  <a:srgbClr val="8B4513"/>
                </a:solidFill>
              </a:rPr>
              <a:t>.2%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080760" y="420624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26693FFB-F3B1-4643-923E-348078ED9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733370"/>
              </p:ext>
            </p:extLst>
          </p:nvPr>
        </p:nvGraphicFramePr>
        <p:xfrm>
          <a:off x="-1270" y="896112"/>
          <a:ext cx="5494020" cy="3836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26A5250E-48BC-4E7E-B6D1-9348C80ECADD}"/>
              </a:ext>
            </a:extLst>
          </p:cNvPr>
          <p:cNvSpPr/>
          <p:nvPr/>
        </p:nvSpPr>
        <p:spPr>
          <a:xfrm>
            <a:off x="5721350" y="1097788"/>
            <a:ext cx="346710" cy="3474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C9EE68A-761E-4EDB-924F-C4F8886DA496}"/>
              </a:ext>
            </a:extLst>
          </p:cNvPr>
          <p:cNvSpPr/>
          <p:nvPr/>
        </p:nvSpPr>
        <p:spPr>
          <a:xfrm>
            <a:off x="5721350" y="1718056"/>
            <a:ext cx="346710" cy="347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A4E608-38FD-079C-272B-93041A9AA735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7" name="Shape 26">
              <a:extLst>
                <a:ext uri="{FF2B5EF4-FFF2-40B4-BE49-F238E27FC236}">
                  <a16:creationId xmlns:a16="http://schemas.microsoft.com/office/drawing/2014/main" id="{3111FFB5-6902-D388-DAD2-A2FDA071F296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10" name="Text 27">
              <a:extLst>
                <a:ext uri="{FF2B5EF4-FFF2-40B4-BE49-F238E27FC236}">
                  <a16:creationId xmlns:a16="http://schemas.microsoft.com/office/drawing/2014/main" id="{FDA00AC3-A6AB-CE63-21FE-C17E97A6785A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</a:t>
              </a:r>
              <a:r>
                <a:rPr lang="en-US" sz="1000" dirty="0">
                  <a:solidFill>
                    <a:srgbClr val="8A9BBB"/>
                  </a:solidFill>
                </a:rPr>
                <a:t> 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TOP 5 CITIES BY POPULATION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364064927"/>
              </p:ext>
            </p:extLst>
          </p:nvPr>
        </p:nvGraphicFramePr>
        <p:xfrm>
          <a:off x="274320" y="88265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08960" cy="685800"/>
          </a:xfrm>
          <a:prstGeom prst="rect">
            <a:avLst/>
          </a:prstGeom>
          <a:solidFill>
            <a:srgbClr val="F2F6FF"/>
          </a:solidFill>
          <a:ln w="1905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12471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1005840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Kathmandu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Capital &amp; largest city. Hub of politics, culture &amp; commerce.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773936"/>
            <a:ext cx="3108960" cy="685800"/>
          </a:xfrm>
          <a:prstGeom prst="rect">
            <a:avLst/>
          </a:prstGeom>
          <a:solidFill>
            <a:srgbClr val="F2F6FF"/>
          </a:solidFill>
          <a:ln w="1905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892808"/>
            <a:ext cx="457200" cy="457200"/>
          </a:xfrm>
          <a:prstGeom prst="ellipse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1773936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Pokhara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Gateway to Annapurna. Nepal's tourism capital.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2542032"/>
            <a:ext cx="3108960" cy="685800"/>
          </a:xfrm>
          <a:prstGeom prst="rect">
            <a:avLst/>
          </a:prstGeom>
          <a:solidFill>
            <a:srgbClr val="F2F6FF"/>
          </a:solidFill>
          <a:ln w="19050">
            <a:solidFill>
              <a:srgbClr val="3A7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660904"/>
            <a:ext cx="457200" cy="457200"/>
          </a:xfrm>
          <a:prstGeom prst="ellipse">
            <a:avLst/>
          </a:prstGeom>
          <a:solidFill>
            <a:srgbClr val="3A70C8"/>
          </a:solidFill>
          <a:ln w="12700">
            <a:solidFill>
              <a:srgbClr val="3A70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2542032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Bharatpur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Fast-growing; gateway to Chitwan National Park.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60720" y="3310128"/>
            <a:ext cx="3108960" cy="685800"/>
          </a:xfrm>
          <a:prstGeom prst="rect">
            <a:avLst/>
          </a:prstGeom>
          <a:solidFill>
            <a:srgbClr val="F2F6FF"/>
          </a:solidFill>
          <a:ln w="19050">
            <a:solidFill>
              <a:srgbClr val="E84C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429000"/>
            <a:ext cx="457200" cy="457200"/>
          </a:xfrm>
          <a:prstGeom prst="ellipse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09360" y="3310128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Biratnagar 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Industrial &amp; trade hub in Eastern Nepal.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760720" y="4078224"/>
            <a:ext cx="3108960" cy="685800"/>
          </a:xfrm>
          <a:prstGeom prst="rect">
            <a:avLst/>
          </a:prstGeom>
          <a:solidFill>
            <a:srgbClr val="F2F6FF"/>
          </a:solidFill>
          <a:ln w="19050">
            <a:solidFill>
              <a:srgbClr val="D48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4197096"/>
            <a:ext cx="457200" cy="457200"/>
          </a:xfrm>
          <a:prstGeom prst="ellipse">
            <a:avLst/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4078224"/>
            <a:ext cx="2468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Lalitpur (Patan)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Ancient Newari architecture; arts &amp; culture capital.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99722A-5128-43EB-93E4-5A35EFEC9935}"/>
              </a:ext>
            </a:extLst>
          </p:cNvPr>
          <p:cNvSpPr/>
          <p:nvPr/>
        </p:nvSpPr>
        <p:spPr>
          <a:xfrm>
            <a:off x="0" y="4064"/>
            <a:ext cx="9144000" cy="777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B8FC9F-BD28-41B5-87E6-6E571A323F64}"/>
              </a:ext>
            </a:extLst>
          </p:cNvPr>
          <p:cNvSpPr txBox="1"/>
          <p:nvPr/>
        </p:nvSpPr>
        <p:spPr>
          <a:xfrm rot="16200000">
            <a:off x="2768459" y="-2757958"/>
            <a:ext cx="553998" cy="632460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altLang="ko-KR" sz="2400" b="1" dirty="0">
                <a:solidFill>
                  <a:schemeClr val="bg1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TOP 5 CITIES BY POPULATION</a:t>
            </a:r>
            <a:endParaRPr lang="ko-KR" altLang="en-US" sz="24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CD8BCE-7FB6-87C7-DDE1-3A1C08559335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30" name="Shape 26">
              <a:extLst>
                <a:ext uri="{FF2B5EF4-FFF2-40B4-BE49-F238E27FC236}">
                  <a16:creationId xmlns:a16="http://schemas.microsoft.com/office/drawing/2014/main" id="{87FA00DD-14D3-86EE-A604-56C1A564C411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38DFEC61-5A4C-53FE-2643-900052D08BDD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AVERAGE TEMPERATURE BY MONTH — KATHMANDU</a:t>
            </a:r>
            <a:endParaRPr lang="en-US" sz="2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1571281"/>
              </p:ext>
            </p:extLst>
          </p:nvPr>
        </p:nvGraphicFramePr>
        <p:xfrm>
          <a:off x="274320" y="91440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051560"/>
            <a:ext cx="24688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051560"/>
            <a:ext cx="54864" cy="6400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Coldest Month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January — avg 10°C (50°F)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24688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83080"/>
            <a:ext cx="54864" cy="6400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Hottest Month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June — avg 24°C (75°F)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0" y="2514600"/>
            <a:ext cx="24688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2514600"/>
            <a:ext cx="54864" cy="6400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Best Seasons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Spring (Mar–May)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Autumn (Oct–Nov)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0" y="3246120"/>
            <a:ext cx="24688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3246120"/>
            <a:ext cx="54864" cy="6400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Monsoon Season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June to September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(heavy rainfall)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3977640"/>
            <a:ext cx="24688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3977640"/>
            <a:ext cx="54864" cy="6400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Climate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Humid subtropical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(Cwa Köppen class)</a:t>
            </a:r>
            <a:endParaRPr lang="en-US" sz="9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55D643-900E-1BFA-94A8-877BBC4F045C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9C6AFF1C-1111-4FDF-C27C-CB3FFEDEAD09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9DB9D21D-A738-B2B7-CF9C-5F43D784D392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</a:t>
              </a:r>
              <a:r>
                <a:rPr lang="en-US" sz="1000" dirty="0">
                  <a:solidFill>
                    <a:srgbClr val="8A9BBB"/>
                  </a:solidFill>
                </a:rPr>
                <a:t> 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AVERAGE RAINFALL BY MONTH — KATHMANDU</a:t>
            </a:r>
            <a:endParaRPr lang="en-US" sz="2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051560"/>
            <a:ext cx="2468880" cy="640080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051560"/>
            <a:ext cx="54864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Total Annual</a:t>
            </a: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~1,455 mm (57")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2468880" cy="640080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83080"/>
            <a:ext cx="54864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Wettest Month</a:t>
            </a: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July — 363 mm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0" y="2514600"/>
            <a:ext cx="2468880" cy="640080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2514600"/>
            <a:ext cx="54864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Driest Month</a:t>
            </a: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December — 6 mm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0" y="3246120"/>
            <a:ext cx="2468880" cy="640080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3246120"/>
            <a:ext cx="54864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Monsoon Period</a:t>
            </a: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June–September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3977640"/>
            <a:ext cx="2468880" cy="640080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3977640"/>
            <a:ext cx="54864" cy="64008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Rainfall Days/yr</a:t>
            </a: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5090"/>
                </a:solidFill>
              </a:rPr>
              <a:t>~110 days</a:t>
            </a:r>
            <a:endParaRPr lang="en-US" sz="9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1CD041-97A6-C127-ED20-C4AB1421B932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E125E8CD-8B2F-B935-C591-088F3CBAFC26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5B2206E1-C9FD-5E0F-BF5C-8CF6050A238D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</a:t>
              </a:r>
              <a:r>
                <a:rPr lang="en-US" sz="1000" dirty="0">
                  <a:solidFill>
                    <a:srgbClr val="8A9BBB"/>
                  </a:solidFill>
                </a:rPr>
                <a:t> 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MUST-SEE TOURIST ATTRACTIONS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8679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🏔  Mount Everest Base Camp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E80"/>
                </a:solidFill>
              </a:rPr>
              <a:t>Trek to the foot of the world's highest peak (8,849m). A once-in-a-lifetime adventure through Sherpa villages.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3227832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🛕  Pashupatinath Temple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417320"/>
            <a:ext cx="27432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E80"/>
                </a:solidFill>
              </a:rPr>
              <a:t>Kathmandu's most sacred Hindu temple on the Bagmati River — a UNESCO World Heritage Site.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005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🏞️ </a:t>
            </a:r>
            <a:r>
              <a:rPr lang="en-US" sz="1000" b="1" dirty="0">
                <a:solidFill>
                  <a:srgbClr val="FFFFFF"/>
                </a:solidFill>
              </a:rPr>
              <a:t>Rara Lake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4630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accent1">
                    <a:lumMod val="75000"/>
                  </a:schemeClr>
                </a:solidFill>
              </a:rPr>
              <a:t>Nepal’s largest freshwater lake is famous for its crystal-clear blue water, peaceful surroundings, and breathtaking Himalayan scenery.</a:t>
            </a:r>
          </a:p>
          <a:p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🏞  Pokhara &amp; Phewa Lake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E80"/>
                </a:solidFill>
              </a:rPr>
              <a:t>Nepal's tourism hub with stunning Himalayan reflections, paragliding, and gateway to Annapurna treks.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2608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🐆  Chitwan National Park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E80"/>
                </a:solidFill>
              </a:rPr>
              <a:t>UNESCO-listed park famous for one-horned rhinos, Bengal tigers, and jungle safaris.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☮  Lumbini — Birthplace of Buddha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E80"/>
                </a:solidFill>
              </a:rPr>
              <a:t>UNESCO World Heritage Site: the sacred birth-place of Siddhartha Gautama (Lord Buddha).</a:t>
            </a:r>
            <a:endParaRPr lang="en-US" sz="9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D7EB27-C64F-E9B6-B623-AAD8B46C7CE5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65A110AA-5D56-7027-8839-B21B631C1C63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296DC879-7F9F-9D6E-D8AF-C9160C69ED99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  <p:sp>
        <p:nvSpPr>
          <p:cNvPr id="34" name="AutoShape 2" descr="Rara Lake: Himalayan paradise logo">
            <a:extLst>
              <a:ext uri="{FF2B5EF4-FFF2-40B4-BE49-F238E27FC236}">
                <a16:creationId xmlns:a16="http://schemas.microsoft.com/office/drawing/2014/main" id="{4791EBD3-E6DD-0F1A-6C45-D9894E3FE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30D36E-03F6-4133-B9D3-890858B5B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82471"/>
            <a:ext cx="1652270" cy="7213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76B8CAE-77B8-41D4-8936-30E8B42AA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1772919"/>
            <a:ext cx="1800935" cy="9136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5656EF2-3DAC-462E-A1B0-DB3055E6C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29" y="3784600"/>
            <a:ext cx="2066350" cy="8612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8B7234-3723-42DE-8B55-2886BF9E0C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31" y="3886200"/>
            <a:ext cx="2147570" cy="7626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095B802-BE0A-46D9-B094-252693ED1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550" y="3742101"/>
            <a:ext cx="1760435" cy="89847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4A07F7C-D2C7-4532-A047-823CE94D54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700" y="1957071"/>
            <a:ext cx="1966945" cy="761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MOST POPULAR FOODS &amp; DRINKS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88136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881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960120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Dal Bhat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The national dish — lentil soup served with steamed rice, vegetables &amp; pickles. Eaten twice daily by most Nepalis.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088136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881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15000" y="960120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Momo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Steamed or fried dumplings filled with meat or vegetables — Nepal's most beloved street food.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86584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8658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🍲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2258568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Thukpa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Hearty noodle soup with vegetables &amp; meat, popular in the mountain regions.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2386584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38658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🥙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715000" y="2258568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Sel Roti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Sweet, ring-shaped rice bread fried until crispy — a festive Nepali treat.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685032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850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234440" y="3557016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Chiya (Masala Tea)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Spiced milk tea brewed with cardamom, ginger &amp; cinnamon — the national beverage.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557016"/>
            <a:ext cx="4114800" cy="1170432"/>
          </a:xfrm>
          <a:prstGeom prst="rect">
            <a:avLst/>
          </a:prstGeom>
          <a:solidFill>
            <a:srgbClr val="F2F6FF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3685032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850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🍺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715000" y="3557016"/>
            <a:ext cx="301752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Raksi &amp; Tongba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4A5E80"/>
                </a:solidFill>
              </a:rPr>
              <a:t>Traditional alcohol: Raksi (rice/millet spirit) and Tongba (hot millet beer) from mountain communities.</a:t>
            </a:r>
            <a:endParaRPr lang="en-US" sz="13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ED6525-4ADD-54C7-3A0D-2A158A01AEB9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081D25F3-E790-3C61-BED5-6D12BBCC5C59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9832599B-930A-6DD9-4C07-7917C01E03F0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</a:t>
              </a:r>
              <a:r>
                <a:rPr lang="en-US" sz="1000" dirty="0">
                  <a:solidFill>
                    <a:srgbClr val="8A9BBB"/>
                  </a:solidFill>
                </a:rPr>
                <a:t> 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3657600" cy="10287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-1052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543958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Tenzing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Norgay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0CC"/>
                </a:solidFill>
              </a:rPr>
              <a:t>Sherpa Mountaineer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D0CC"/>
                </a:solidFill>
              </a:rPr>
              <a:t>1914 – 1986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19456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Summit: May 29, 1953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2743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Man Who Conquered Everest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77640" y="1005840"/>
            <a:ext cx="4892040" cy="822960"/>
          </a:xfrm>
          <a:prstGeom prst="rect">
            <a:avLst/>
          </a:prstGeom>
          <a:solidFill>
            <a:srgbClr val="243552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77640" y="1005840"/>
            <a:ext cx="4572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005840"/>
            <a:ext cx="47091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🏔 Historic Achievement
</a:t>
            </a:r>
            <a:r>
              <a:rPr lang="en-US" sz="900" dirty="0">
                <a:solidFill>
                  <a:srgbClr val="B0C4DE"/>
                </a:solidFill>
              </a:rPr>
              <a:t>On May 29, 1953, Tenzing Norgay and Sir Edmund Hillary became the first confirmed people to reach the summit of Mount Everest (8,849m), the world's highest peak.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1965960"/>
            <a:ext cx="4892040" cy="822960"/>
          </a:xfrm>
          <a:prstGeom prst="rect">
            <a:avLst/>
          </a:prstGeom>
          <a:solidFill>
            <a:srgbClr val="243552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77640" y="1965960"/>
            <a:ext cx="4572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965960"/>
            <a:ext cx="47091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🌍 Global Recognition
</a:t>
            </a:r>
            <a:r>
              <a:rPr lang="en-US" sz="900" dirty="0">
                <a:solidFill>
                  <a:srgbClr val="B0C4DE"/>
                </a:solidFill>
              </a:rPr>
              <a:t>Time magazine named him one of the 100 Most Influential People of the 20th Century. He received Nepal's Order of the Star (Nepal Tara) and Britain's George Medal.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77640" y="2926080"/>
            <a:ext cx="4892040" cy="822960"/>
          </a:xfrm>
          <a:prstGeom prst="rect">
            <a:avLst/>
          </a:prstGeom>
          <a:solidFill>
            <a:srgbClr val="243552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77640" y="2926080"/>
            <a:ext cx="4572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🎒 Sherpa Legacy
</a:t>
            </a:r>
            <a:r>
              <a:rPr lang="en-US" sz="900" dirty="0">
                <a:solidFill>
                  <a:srgbClr val="B0C4DE"/>
                </a:solidFill>
              </a:rPr>
              <a:t>Born in the Khumbu region of Nepal, Tenzing opened the world's eyes to Sherpa skill and culture. He later founded Tenzing Norgay Adventures (1978) to share Himalayan trekking.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3886200"/>
            <a:ext cx="4892040" cy="822960"/>
          </a:xfrm>
          <a:prstGeom prst="rect">
            <a:avLst/>
          </a:prstGeom>
          <a:solidFill>
            <a:srgbClr val="243552"/>
          </a:solidFill>
          <a:ln w="10160">
            <a:solidFill>
              <a:srgbClr val="2E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77640" y="3886200"/>
            <a:ext cx="4572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886200"/>
            <a:ext cx="47091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📖 Life After Everest
</a:t>
            </a:r>
            <a:r>
              <a:rPr lang="en-US" sz="900" dirty="0">
                <a:solidFill>
                  <a:srgbClr val="B0C4DE"/>
                </a:solidFill>
              </a:rPr>
              <a:t>He served as Director of Field Training at the Himalayan Mountaineering Institute in Darjeeling, inspiring generations of climbers across Asia.</a:t>
            </a:r>
            <a:endParaRPr lang="en-US" sz="1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9850D1-97AB-FFA6-B9FA-3875C8B3C2A2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7398113F-413C-5897-524C-2D6F1A2AB58A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523146B1-2111-FE4A-39BE-BC910601CE18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</a:t>
              </a:r>
              <a:r>
                <a:rPr lang="en-US" sz="1000" dirty="0">
                  <a:solidFill>
                    <a:srgbClr val="8A9BBB"/>
                  </a:solidFill>
                </a:rPr>
                <a:t> By Rayamajhi Ajay</a:t>
              </a:r>
              <a:endParaRPr lang="en-US" sz="1000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1624271-AF79-06A8-6548-F8B296D7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05" y="655321"/>
            <a:ext cx="1510755" cy="117347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NATIONAL PARK &amp; NATIonal ANIMAL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38862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🌿  Chitwan National Park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2E8B57"/>
                </a:solidFill>
              </a:rPr>
              <a:t>Established:</a:t>
            </a:r>
            <a:r>
              <a:rPr lang="en-US" altLang="ko-KR" sz="1000" dirty="0">
                <a:solidFill>
                  <a:srgbClr val="4A5E80"/>
                </a:solidFill>
              </a:rPr>
              <a:t> 1973 — Nepal's first national park.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UNESCO Status: </a:t>
            </a:r>
            <a:r>
              <a:rPr lang="en-US" sz="1000" dirty="0">
                <a:solidFill>
                  <a:srgbClr val="4A5E80"/>
                </a:solidFill>
              </a:rPr>
              <a:t>World Heritage Site since 1984.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Area: </a:t>
            </a:r>
            <a:r>
              <a:rPr lang="en-US" sz="1000" dirty="0">
                <a:solidFill>
                  <a:srgbClr val="4A5E80"/>
                </a:solidFill>
              </a:rPr>
              <a:t>932 km² in the Terai lowlands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Famous For: </a:t>
            </a:r>
            <a:r>
              <a:rPr lang="en-US" sz="1000" dirty="0">
                <a:solidFill>
                  <a:srgbClr val="4A5E80"/>
                </a:solidFill>
              </a:rPr>
              <a:t>One-horned rhinoceros, Bengal tigers, gharials, and Asian elephants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Activities: </a:t>
            </a:r>
            <a:r>
              <a:rPr lang="en-US" sz="1000" dirty="0">
                <a:solidFill>
                  <a:srgbClr val="4A5E80"/>
                </a:solidFill>
              </a:rPr>
              <a:t>Jeep safari, elephant safari, bird watching, canoe rides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Wildlife: </a:t>
            </a:r>
            <a:r>
              <a:rPr lang="en-US" sz="1000" dirty="0">
                <a:solidFill>
                  <a:srgbClr val="4A5E80"/>
                </a:solidFill>
              </a:rPr>
              <a:t>700+ species of wildlife, 600+ birds, 56 mammal species.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</a:rPr>
              <a:t>Location: </a:t>
            </a:r>
            <a:r>
              <a:rPr lang="en-US" sz="1000" dirty="0">
                <a:solidFill>
                  <a:srgbClr val="4A5E80"/>
                </a:solidFill>
              </a:rPr>
              <a:t>Chitwan District, southern Nepal.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37260"/>
            <a:ext cx="4206240" cy="38862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C04A1A"/>
          </a:solidFill>
          <a:ln w="12700">
            <a:solidFill>
              <a:srgbClr val="C0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🐄</a:t>
            </a:r>
            <a:r>
              <a:rPr lang="en-US" sz="1400" b="1" dirty="0">
                <a:solidFill>
                  <a:schemeClr val="bg1"/>
                </a:solidFill>
              </a:rPr>
              <a:t> Cow (National Animal)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15087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Scientific Name </a:t>
            </a:r>
            <a:r>
              <a:rPr lang="en-US" sz="1000" b="1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</a:rPr>
              <a:t>Bos Taurus</a:t>
            </a:r>
            <a:r>
              <a:rPr lang="en-US" sz="1000" dirty="0"/>
              <a:t>.</a:t>
            </a:r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Status</a:t>
            </a:r>
            <a:r>
              <a:rPr lang="en-US" sz="1000" b="1" dirty="0">
                <a:solidFill>
                  <a:srgbClr val="C04A1A"/>
                </a:solidFill>
              </a:rPr>
              <a:t>: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Domesticated and abundant.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24231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Size: </a:t>
            </a:r>
            <a:r>
              <a:rPr lang="en-US" altLang="ko-KR" sz="1000" dirty="0">
                <a:solidFill>
                  <a:srgbClr val="C00000"/>
                </a:solidFill>
              </a:rPr>
              <a:t>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1.2 to 1.5 meters height and 400 to 800 kg weight</a:t>
            </a:r>
            <a:r>
              <a:rPr lang="en-US" altLang="ko-KR" sz="1000" dirty="0"/>
              <a:t>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Habitat: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Pastures and farms.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Diet: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Grasses and hay.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Found In Nepal: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Within Nepal, distinct local cattle breeds are found from the lowlands to the high-altitude hills.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42519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00000"/>
                </a:solidFill>
              </a:rPr>
              <a:t>Significance: </a:t>
            </a:r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National, sacred animal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377347-17A5-268A-3725-19A07A1586B3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F444DF5F-0710-D7F9-057C-882DF03977D9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88A2BCA9-6F8E-9042-4869-B336F8EDA9D0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GEOGRAPHY HIGHLIGHTS</a:t>
            </a: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3886200"/>
          </a:xfrm>
          <a:prstGeom prst="rect">
            <a:avLst/>
          </a:prstGeom>
          <a:solidFill>
            <a:srgbClr val="F2F6FF"/>
          </a:solidFill>
          <a:ln w="254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8346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" y="1417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Highest Mountain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 Everest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E80"/>
                </a:solidFill>
              </a:rPr>
              <a:t>8,849 m (29,032 ft) above sea level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743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World's highest peak above mean sea level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Located on the Nepal–China (Tibet) border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566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Known as Sagarmatha in Nepali &amp; Chomolungma in Tibetan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977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First summited May 29, 1953 by Hillary &amp; Norgay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~700 climbers attempt the summit each year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960120"/>
            <a:ext cx="2834640" cy="3886200"/>
          </a:xfrm>
          <a:prstGeom prst="rect">
            <a:avLst/>
          </a:prstGeom>
          <a:solidFill>
            <a:srgbClr val="F2F6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60120"/>
            <a:ext cx="283464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54680" y="1417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Longest River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01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Karnali River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612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E80"/>
                </a:solidFill>
              </a:rPr>
              <a:t>507 km — Nepal's longest river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743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Originates in Tibet near Lake Manasarovar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Flows through western Nepal into India's Ghaghra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566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Wild rafting destination — world-class rapids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977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Passes through Shey Phoksundo &amp; Bardiya National Parks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Feeds the Karnali Province of western Nepal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2834640" cy="3886200"/>
          </a:xfrm>
          <a:prstGeom prst="rect">
            <a:avLst/>
          </a:prstGeom>
          <a:solidFill>
            <a:srgbClr val="F2F6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960120"/>
            <a:ext cx="28346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26480" y="1417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Biggest Lake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901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Rara Lake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E80"/>
                </a:solidFill>
              </a:rPr>
              <a:t>Area: 10.8 km² — Nepal's largest lake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743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Located in Mugu District, remote northwest Nepal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Elevation: 2,990 m (9,810 ft)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566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Crystal-clear sapphire waters year-round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977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Surrounded by Rara National Park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▸  </a:t>
            </a:r>
            <a:r>
              <a:rPr lang="en-US" sz="900" dirty="0">
                <a:solidFill>
                  <a:srgbClr val="1B2A4A"/>
                </a:solidFill>
              </a:rPr>
              <a:t>Deep blue color visible from the air — nicknamed 'Queen of Lakes'</a:t>
            </a:r>
            <a:endParaRPr lang="en-US" sz="9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82A581-033B-E91A-CB1B-6100F09B938B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41" name="Shape 26">
              <a:extLst>
                <a:ext uri="{FF2B5EF4-FFF2-40B4-BE49-F238E27FC236}">
                  <a16:creationId xmlns:a16="http://schemas.microsoft.com/office/drawing/2014/main" id="{B70C1C8D-BDC9-C468-7F3C-DB315AF0A4E5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42" name="Text 27">
              <a:extLst>
                <a:ext uri="{FF2B5EF4-FFF2-40B4-BE49-F238E27FC236}">
                  <a16:creationId xmlns:a16="http://schemas.microsoft.com/office/drawing/2014/main" id="{D8E1FB2A-D9CF-E820-A73E-E09C1D0054BD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82880" cy="4997196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— Incredible. Inspiring. Eternal.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5486400" cy="36576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2560320" cy="685800"/>
          </a:xfrm>
          <a:prstGeom prst="rect">
            <a:avLst/>
          </a:prstGeom>
          <a:solidFill>
            <a:srgbClr val="1E3A60"/>
          </a:solidFill>
          <a:ln w="10160">
            <a:solidFill>
              <a:srgbClr val="2E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🌍  </a:t>
            </a:r>
            <a:r>
              <a:rPr lang="en-US" sz="1000" dirty="0">
                <a:solidFill>
                  <a:srgbClr val="CADCFC"/>
                </a:solidFill>
              </a:rPr>
              <a:t>Home to 8 of the world's 10 highest peaks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560320" cy="685800"/>
          </a:xfrm>
          <a:prstGeom prst="rect">
            <a:avLst/>
          </a:prstGeom>
          <a:solidFill>
            <a:srgbClr val="1E3A60"/>
          </a:solidFill>
          <a:ln w="1016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🙏  </a:t>
            </a:r>
            <a:r>
              <a:rPr lang="en-US" sz="1000" dirty="0">
                <a:solidFill>
                  <a:srgbClr val="CADCFC"/>
                </a:solidFill>
              </a:rPr>
              <a:t>Birthplace of Siddhartha Gautama — the Lord Buddha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2560320" cy="685800"/>
          </a:xfrm>
          <a:prstGeom prst="rect">
            <a:avLst/>
          </a:prstGeom>
          <a:solidFill>
            <a:srgbClr val="1E3A60"/>
          </a:solidFill>
          <a:ln w="1016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🏆  </a:t>
            </a:r>
            <a:r>
              <a:rPr lang="en-US" sz="1000" dirty="0">
                <a:solidFill>
                  <a:srgbClr val="CADCFC"/>
                </a:solidFill>
              </a:rPr>
              <a:t>Site of the first-ever Everest summit (1953)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560320" cy="685800"/>
          </a:xfrm>
          <a:prstGeom prst="rect">
            <a:avLst/>
          </a:prstGeom>
          <a:solidFill>
            <a:srgbClr val="1E3A60"/>
          </a:solidFill>
          <a:ln w="10160">
            <a:solidFill>
              <a:srgbClr val="2E5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🌿  </a:t>
            </a:r>
            <a:r>
              <a:rPr lang="en-US" sz="1000" dirty="0">
                <a:solidFill>
                  <a:srgbClr val="CADCFC"/>
                </a:solidFill>
              </a:rPr>
              <a:t>Rich in biodiversity: 185 mammal species, 900+ birds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3291840"/>
            <a:ext cx="2560320" cy="685800"/>
          </a:xfrm>
          <a:prstGeom prst="rect">
            <a:avLst/>
          </a:prstGeom>
          <a:solidFill>
            <a:srgbClr val="1E3A60"/>
          </a:solidFill>
          <a:ln w="1016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9184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🎭  </a:t>
            </a:r>
            <a:r>
              <a:rPr lang="en-US" sz="1000" dirty="0">
                <a:solidFill>
                  <a:srgbClr val="CADCFC"/>
                </a:solidFill>
              </a:rPr>
              <a:t>Incredible cultural diversity: 125+ ethnic groups</a:t>
            </a:r>
            <a:endParaRPr lang="en-US" sz="1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F69A8B-199B-DAE8-B66D-99FBE8699A2A}"/>
              </a:ext>
            </a:extLst>
          </p:cNvPr>
          <p:cNvGrpSpPr/>
          <p:nvPr/>
        </p:nvGrpSpPr>
        <p:grpSpPr>
          <a:xfrm>
            <a:off x="0" y="4754880"/>
            <a:ext cx="9144000" cy="388620"/>
            <a:chOff x="0" y="4754880"/>
            <a:chExt cx="9144000" cy="388620"/>
          </a:xfrm>
        </p:grpSpPr>
        <p:sp>
          <p:nvSpPr>
            <p:cNvPr id="22" name="Shape 26">
              <a:extLst>
                <a:ext uri="{FF2B5EF4-FFF2-40B4-BE49-F238E27FC236}">
                  <a16:creationId xmlns:a16="http://schemas.microsoft.com/office/drawing/2014/main" id="{6B7F23D7-8B73-5C39-E8EC-57809BA1E216}"/>
                </a:ext>
              </a:extLst>
            </p:cNvPr>
            <p:cNvSpPr/>
            <p:nvPr/>
          </p:nvSpPr>
          <p:spPr>
            <a:xfrm>
              <a:off x="0" y="4754880"/>
              <a:ext cx="9144000" cy="38862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23" name="Text 27">
              <a:extLst>
                <a:ext uri="{FF2B5EF4-FFF2-40B4-BE49-F238E27FC236}">
                  <a16:creationId xmlns:a16="http://schemas.microsoft.com/office/drawing/2014/main" id="{6187C01E-9D5C-5FF3-ADD8-10181B8BAE79}"/>
                </a:ext>
              </a:extLst>
            </p:cNvPr>
            <p:cNvSpPr/>
            <p:nvPr/>
          </p:nvSpPr>
          <p:spPr>
            <a:xfrm>
              <a:off x="365760" y="4754880"/>
              <a:ext cx="8412480" cy="3886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8A9BBB"/>
                  </a:solidFill>
                </a:rPr>
                <a:t>Nepal • Country Presentation </a:t>
              </a:r>
              <a:r>
                <a:rPr lang="en-US" altLang="ko-KR" sz="1000" dirty="0">
                  <a:solidFill>
                    <a:srgbClr val="8A9BBB"/>
                  </a:solidFill>
                </a:rPr>
                <a:t>Designed </a:t>
              </a:r>
              <a:r>
                <a:rPr lang="en-US" sz="1000" dirty="0">
                  <a:solidFill>
                    <a:srgbClr val="8A9BBB"/>
                  </a:solidFill>
                </a:rPr>
                <a:t>By Rayamajhi Ajay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1278</Words>
  <Application>Microsoft Office PowerPoint</Application>
  <PresentationFormat>On-screen Show (16:9)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Italic Outline Art</vt:lpstr>
      <vt:lpstr>맑은 고딕</vt:lpstr>
      <vt:lpstr>Algerian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Nepal – A Country Presentation</dc:title>
  <dc:subject>PptxGenJS Presentation</dc:subject>
  <dc:creator>PptxGenJS</dc:creator>
  <cp:lastModifiedBy>User</cp:lastModifiedBy>
  <cp:revision>25</cp:revision>
  <dcterms:created xsi:type="dcterms:W3CDTF">2026-05-17T15:50:15Z</dcterms:created>
  <dcterms:modified xsi:type="dcterms:W3CDTF">2026-05-21T01:08:57Z</dcterms:modified>
</cp:coreProperties>
</file>